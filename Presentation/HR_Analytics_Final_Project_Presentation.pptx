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66751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2263F"/>
                </a:solidFill>
              </a:defRPr>
            </a:pPr>
            <a:r>
              <a:t>HR Analytics</a:t>
            </a:r>
          </a:p>
          <a:p>
            <a:pPr>
              <a:spcBef>
                <a:spcPts val="800"/>
              </a:spcBef>
              <a:defRPr sz="2100">
                <a:solidFill>
                  <a:srgbClr val="2563EB"/>
                </a:solidFill>
              </a:defRPr>
            </a:pPr>
            <a:r>
              <a:t>Employee Attrition, Performance &amp; Workforce Insights</a:t>
            </a:r>
          </a:p>
          <a:p>
            <a:pPr>
              <a:spcBef>
                <a:spcPts val="1400"/>
              </a:spcBef>
              <a:defRPr sz="1500">
                <a:solidFill>
                  <a:srgbClr val="6B7280"/>
                </a:solidFill>
              </a:defRPr>
            </a:pPr>
            <a:r>
              <a:t>Final Data Analytics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60520"/>
            <a:ext cx="2057400" cy="1051560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" y="4325112"/>
            <a:ext cx="530352" cy="53035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6192" y="4306824"/>
            <a:ext cx="10972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2263F"/>
                </a:solidFill>
              </a:defRPr>
            </a:pPr>
            <a:r>
              <a:t>16.1%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4718304"/>
            <a:ext cx="112471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30">
                <a:solidFill>
                  <a:srgbClr val="6B7280"/>
                </a:solidFill>
              </a:defRPr>
            </a:pPr>
            <a:r>
              <a:t>Attrition 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4160520"/>
            <a:ext cx="2057400" cy="1051560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136392" y="4325112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76472" y="4306824"/>
            <a:ext cx="10972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2263F"/>
                </a:solidFill>
              </a:defRPr>
            </a:pPr>
            <a:r>
              <a:t>1,470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6472" y="4718304"/>
            <a:ext cx="112471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30">
                <a:solidFill>
                  <a:srgbClr val="6B7280"/>
                </a:solidFill>
              </a:defRPr>
            </a:pPr>
            <a:r>
              <a:t>Dashboard Employees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4160520"/>
            <a:ext cx="2057400" cy="1051560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76672" y="4325112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16752" y="4306824"/>
            <a:ext cx="10972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2263F"/>
                </a:solidFill>
              </a:defRPr>
            </a:pPr>
            <a:r>
              <a:t>7.01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16752" y="4718304"/>
            <a:ext cx="112471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30">
                <a:solidFill>
                  <a:srgbClr val="6B7280"/>
                </a:solidFill>
              </a:defRPr>
            </a:pPr>
            <a:r>
              <a:t>Avg Tenure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731520"/>
            <a:ext cx="3566160" cy="5074920"/>
          </a:xfrm>
          <a:prstGeom prst="round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09728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263F"/>
                </a:solidFill>
              </a:defRPr>
            </a:pPr>
            <a:r>
              <a:t>Project Focus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828800"/>
            <a:ext cx="2788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1F2937"/>
                </a:solidFill>
              </a:defRPr>
            </a:pPr>
            <a:r>
              <a:t>• Employee attrition drivers</a:t>
            </a:r>
          </a:p>
          <a:p>
            <a:pPr>
              <a:spcAft>
                <a:spcPts val="1200"/>
              </a:spcAft>
              <a:defRPr sz="1300">
                <a:solidFill>
                  <a:srgbClr val="1F2937"/>
                </a:solidFill>
              </a:defRPr>
            </a:pPr>
            <a:r>
              <a:t>• Workforce structure &amp; diversity</a:t>
            </a:r>
          </a:p>
          <a:p>
            <a:pPr>
              <a:spcAft>
                <a:spcPts val="1200"/>
              </a:spcAft>
              <a:defRPr sz="1300">
                <a:solidFill>
                  <a:srgbClr val="1F2937"/>
                </a:solidFill>
              </a:defRPr>
            </a:pPr>
            <a:r>
              <a:t>• Salary and job-role patterns</a:t>
            </a:r>
          </a:p>
          <a:p>
            <a:pPr>
              <a:spcAft>
                <a:spcPts val="1200"/>
              </a:spcAft>
              <a:defRPr sz="1300">
                <a:solidFill>
                  <a:srgbClr val="1F2937"/>
                </a:solidFill>
              </a:defRPr>
            </a:pPr>
            <a:r>
              <a:t>• Job satisfaction and overtime</a:t>
            </a:r>
          </a:p>
          <a:p>
            <a:pPr>
              <a:spcAft>
                <a:spcPts val="1200"/>
              </a:spcAft>
              <a:defRPr sz="1300">
                <a:solidFill>
                  <a:srgbClr val="1F2937"/>
                </a:solidFill>
              </a:defRPr>
            </a:pPr>
            <a:r>
              <a:t>• Power BI-based HR decision 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08076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Python • Pandas • Matplotlib • Seaborn • Power BI • Git/GitHub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63F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From raw employee data to actionable HR insights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t>HR Analytics – Final Data Analytics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73152" cy="4526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463039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63F"/>
                </a:solidFill>
              </a:defRPr>
            </a:pPr>
            <a:r>
              <a:t>What the project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1837943"/>
            <a:ext cx="4983480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  <a:defRPr sz="1120">
                <a:solidFill>
                  <a:srgbClr val="1F2937"/>
                </a:solidFill>
              </a:defRPr>
            </a:pPr>
            <a:r>
              <a:t>• Analyses employee attrition, salary, performance, satisfaction and workforce characteristics.</a:t>
            </a:r>
          </a:p>
          <a:p>
            <a:pPr>
              <a:spcAft>
                <a:spcPts val="600"/>
              </a:spcAft>
              <a:defRPr sz="1120">
                <a:solidFill>
                  <a:srgbClr val="1F2937"/>
                </a:solidFill>
              </a:defRPr>
            </a:pPr>
            <a:r>
              <a:t>• Combines EDA, statistical checks, visualizations and an interactive Power BI dashboard.</a:t>
            </a:r>
          </a:p>
          <a:p>
            <a:pPr>
              <a:spcAft>
                <a:spcPts val="600"/>
              </a:spcAft>
              <a:defRPr sz="1120">
                <a:solidFill>
                  <a:srgbClr val="1F2937"/>
                </a:solidFill>
              </a:defRPr>
            </a:pPr>
            <a:r>
              <a:t>• Translates analytical findings into practical HR recommendations for retention and workforce planning.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25880"/>
            <a:ext cx="53492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25880"/>
            <a:ext cx="73152" cy="4526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463039"/>
            <a:ext cx="49834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63F"/>
                </a:solidFill>
              </a:defRPr>
            </a:pPr>
            <a:r>
              <a:t>End-to-end 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1837943"/>
            <a:ext cx="4937759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  <a:defRPr sz="1120">
                <a:solidFill>
                  <a:srgbClr val="1F2937"/>
                </a:solidFill>
              </a:defRPr>
            </a:pPr>
            <a:r>
              <a:t>• Dataset selection &amp; preparation</a:t>
            </a:r>
          </a:p>
          <a:p>
            <a:pPr>
              <a:spcAft>
                <a:spcPts val="600"/>
              </a:spcAft>
              <a:defRPr sz="1120">
                <a:solidFill>
                  <a:srgbClr val="1F2937"/>
                </a:solidFill>
              </a:defRPr>
            </a:pPr>
            <a:r>
              <a:t>• Data cleaning and quality checks</a:t>
            </a:r>
          </a:p>
          <a:p>
            <a:pPr>
              <a:spcAft>
                <a:spcPts val="600"/>
              </a:spcAft>
              <a:defRPr sz="1120">
                <a:solidFill>
                  <a:srgbClr val="1F2937"/>
                </a:solidFill>
              </a:defRPr>
            </a:pPr>
            <a:r>
              <a:t>• Exploratory Data Analysis (EDA)</a:t>
            </a:r>
          </a:p>
          <a:p>
            <a:pPr>
              <a:spcAft>
                <a:spcPts val="600"/>
              </a:spcAft>
              <a:defRPr sz="1120">
                <a:solidFill>
                  <a:srgbClr val="1F2937"/>
                </a:solidFill>
              </a:defRPr>
            </a:pPr>
            <a:r>
              <a:t>• Python visualizations</a:t>
            </a:r>
          </a:p>
          <a:p>
            <a:pPr>
              <a:spcAft>
                <a:spcPts val="600"/>
              </a:spcAft>
              <a:defRPr sz="1120">
                <a:solidFill>
                  <a:srgbClr val="1F2937"/>
                </a:solidFill>
              </a:defRPr>
            </a:pPr>
            <a:r>
              <a:t>• Interactive Power BI dashboard</a:t>
            </a:r>
          </a:p>
          <a:p>
            <a:pPr>
              <a:spcAft>
                <a:spcPts val="600"/>
              </a:spcAft>
              <a:defRPr sz="1120">
                <a:solidFill>
                  <a:srgbClr val="1F2937"/>
                </a:solidFill>
              </a:defRPr>
            </a:pPr>
            <a:r>
              <a:t>• Business insights &amp;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63F"/>
                </a:solidFill>
              </a:defRPr>
            </a:pPr>
            <a:r>
              <a:t>Problem Statement &amp;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Understanding what drives employee attrition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t>HR Analytics – Final Data Analytics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5623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73152" cy="45262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463039"/>
            <a:ext cx="5257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63F"/>
                </a:solidFill>
              </a:defRPr>
            </a:pPr>
            <a:r>
              <a:t>Problem Statement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1837943"/>
            <a:ext cx="5212080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  <a:defRPr sz="1120">
                <a:solidFill>
                  <a:srgbClr val="1F2937"/>
                </a:solidFill>
              </a:defRPr>
            </a:pPr>
            <a:r>
              <a:t>• Employee turnover can increase recruitment and training costs and affect workforce stability.</a:t>
            </a:r>
          </a:p>
          <a:p>
            <a:pPr>
              <a:spcAft>
                <a:spcPts val="600"/>
              </a:spcAft>
              <a:defRPr sz="1120">
                <a:solidFill>
                  <a:srgbClr val="1F2937"/>
                </a:solidFill>
              </a:defRPr>
            </a:pPr>
            <a:r>
              <a:t>• The project investigates which employee and workplace factors are associated with higher attrition.</a:t>
            </a:r>
          </a:p>
          <a:p>
            <a:pPr>
              <a:spcAft>
                <a:spcPts val="600"/>
              </a:spcAft>
              <a:defRPr sz="1120">
                <a:solidFill>
                  <a:srgbClr val="1F2937"/>
                </a:solidFill>
              </a:defRPr>
            </a:pPr>
            <a:r>
              <a:t>• Key questions: Which departments need attention? How do overtime and satisfaction relate to attrition? How does compensation vary across roles?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325880"/>
            <a:ext cx="50749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46520" y="1325880"/>
            <a:ext cx="73152" cy="4526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47688" y="1463039"/>
            <a:ext cx="47091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63F"/>
                </a:solidFill>
              </a:defRPr>
            </a:pPr>
            <a:r>
              <a:t>Dataset at a Glance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5976" y="1837943"/>
            <a:ext cx="4663440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  <a:defRPr sz="1120">
                <a:solidFill>
                  <a:srgbClr val="1F2937"/>
                </a:solidFill>
              </a:defRPr>
            </a:pPr>
            <a:r>
              <a:t>• 1,480 employee records in the raw CSV dataset.</a:t>
            </a:r>
          </a:p>
          <a:p>
            <a:pPr>
              <a:spcAft>
                <a:spcPts val="600"/>
              </a:spcAft>
              <a:defRPr sz="1120">
                <a:solidFill>
                  <a:srgbClr val="1F2937"/>
                </a:solidFill>
              </a:defRPr>
            </a:pPr>
            <a:r>
              <a:t>• 38 columns covering age, attrition, department, job role, income, overtime, satisfaction, performance and experience.</a:t>
            </a:r>
          </a:p>
          <a:p>
            <a:pPr>
              <a:spcAft>
                <a:spcPts val="600"/>
              </a:spcAft>
              <a:defRPr sz="1120">
                <a:solidFill>
                  <a:srgbClr val="1F2937"/>
                </a:solidFill>
              </a:defRPr>
            </a:pPr>
            <a:r>
              <a:t>• HR domain with employee-level records suitable for workforce analytics.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63F"/>
                </a:solidFill>
              </a:defRPr>
            </a:pPr>
            <a:r>
              <a:t>Data Preparation &amp;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Cleaning the data before drawing conclusions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t>HR Analytics – Final Data Analytics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2423160" cy="111556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490472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36192" y="1472184"/>
            <a:ext cx="1463039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2263F"/>
                </a:solidFill>
              </a:defRPr>
            </a:pPr>
            <a:r>
              <a:t>57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6192" y="1883664"/>
            <a:ext cx="1490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30">
                <a:solidFill>
                  <a:srgbClr val="6B7280"/>
                </a:solidFill>
              </a:defRPr>
            </a:pPr>
            <a:r>
              <a:t>Missing values found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325880"/>
            <a:ext cx="2423160" cy="111556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66160" y="1490472"/>
            <a:ext cx="530352" cy="53035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1472184"/>
            <a:ext cx="1463039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2263F"/>
                </a:solidFill>
              </a:defRPr>
            </a:pPr>
            <a: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1883664"/>
            <a:ext cx="1490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30">
                <a:solidFill>
                  <a:srgbClr val="6B7280"/>
                </a:solidFill>
              </a:defRPr>
            </a:pPr>
            <a:r>
              <a:t>Duplicate rows found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71616" y="1325880"/>
            <a:ext cx="2423160" cy="1115568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36207" y="1490472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76288" y="1472184"/>
            <a:ext cx="1463039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2263F"/>
                </a:solidFill>
              </a:defRPr>
            </a:pPr>
            <a:r>
              <a:t>16.1%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6288" y="1883664"/>
            <a:ext cx="1490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30">
                <a:solidFill>
                  <a:srgbClr val="6B7280"/>
                </a:solidFill>
              </a:defRPr>
            </a:pPr>
            <a:r>
              <a:t>Attrition rate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41664" y="1325880"/>
            <a:ext cx="2423160" cy="1115568"/>
          </a:xfrm>
          <a:prstGeom prst="round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06256" y="1490472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46336" y="1472184"/>
            <a:ext cx="1463039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2263F"/>
                </a:solidFill>
              </a:defRPr>
            </a:pPr>
            <a:r>
              <a:t>7.01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46336" y="1883664"/>
            <a:ext cx="1490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30">
                <a:solidFill>
                  <a:srgbClr val="6B7280"/>
                </a:solidFill>
              </a:defRPr>
            </a:pPr>
            <a:r>
              <a:t>Avg. tenure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2697480"/>
            <a:ext cx="534924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2697480"/>
            <a:ext cx="73152" cy="3154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2834640"/>
            <a:ext cx="49834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63F"/>
                </a:solidFill>
              </a:defRPr>
            </a:pPr>
            <a:r>
              <a:t>Cleaning steps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" y="3209544"/>
            <a:ext cx="4937759" cy="2560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  <a:defRPr sz="1120">
                <a:solidFill>
                  <a:srgbClr val="1F2937"/>
                </a:solidFill>
              </a:defRPr>
            </a:pPr>
            <a:r>
              <a:t>• Identified missing values in YearsWithCurrManager and treated them using the median.</a:t>
            </a:r>
          </a:p>
          <a:p>
            <a:pPr>
              <a:spcAft>
                <a:spcPts val="600"/>
              </a:spcAft>
              <a:defRPr sz="1120">
                <a:solidFill>
                  <a:srgbClr val="1F2937"/>
                </a:solidFill>
              </a:defRPr>
            </a:pPr>
            <a:r>
              <a:t>• Checked and removed duplicate rows.</a:t>
            </a:r>
          </a:p>
          <a:p>
            <a:pPr>
              <a:spcAft>
                <a:spcPts val="600"/>
              </a:spcAft>
              <a:defRPr sz="1120">
                <a:solidFill>
                  <a:srgbClr val="1F2937"/>
                </a:solidFill>
              </a:defRPr>
            </a:pPr>
            <a:r>
              <a:t>• Performed basic data-quality and consistency checks before analysis.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6208" y="2697480"/>
            <a:ext cx="493776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36208" y="2697480"/>
            <a:ext cx="73152" cy="3154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37376" y="283464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63F"/>
                </a:solidFill>
              </a:defRPr>
            </a:pPr>
            <a:r>
              <a:t>EDA focus areas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55664" y="3209544"/>
            <a:ext cx="4526280" cy="2560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  <a:defRPr sz="1120">
                <a:solidFill>
                  <a:srgbClr val="1F2937"/>
                </a:solidFill>
              </a:defRPr>
            </a:pPr>
            <a:r>
              <a:t>• Descriptive statistics for age, income and experience.</a:t>
            </a:r>
          </a:p>
          <a:p>
            <a:pPr>
              <a:spcAft>
                <a:spcPts val="600"/>
              </a:spcAft>
              <a:defRPr sz="1120">
                <a:solidFill>
                  <a:srgbClr val="1F2937"/>
                </a:solidFill>
              </a:defRPr>
            </a:pPr>
            <a:r>
              <a:t>• Attrition by department, overtime and job satisfaction.</a:t>
            </a:r>
          </a:p>
          <a:p>
            <a:pPr>
              <a:spcAft>
                <a:spcPts val="600"/>
              </a:spcAft>
              <a:defRPr sz="1120">
                <a:solidFill>
                  <a:srgbClr val="1F2937"/>
                </a:solidFill>
              </a:defRPr>
            </a:pPr>
            <a:r>
              <a:t>• Correlation analysis and IQR-based outlier detection for salary.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63F"/>
                </a:solidFill>
              </a:defRPr>
            </a:pPr>
            <a:r>
              <a:t>Key EDA Visualizations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The charts below highlight the strongest analytical signals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t>HR Analytics – Final Data Analytics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5</a:t>
            </a:r>
          </a:p>
        </p:txBody>
      </p:sp>
      <p:pic>
        <p:nvPicPr>
          <p:cNvPr id="8" name="Picture 7" descr="department_attr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5394960" cy="2788920"/>
          </a:xfrm>
          <a:prstGeom prst="rect">
            <a:avLst/>
          </a:prstGeom>
        </p:spPr>
      </p:pic>
      <p:pic>
        <p:nvPicPr>
          <p:cNvPr id="9" name="Picture 8" descr="overtime_attr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34440"/>
            <a:ext cx="5394960" cy="2788920"/>
          </a:xfrm>
          <a:prstGeom prst="rect">
            <a:avLst/>
          </a:prstGeom>
        </p:spPr>
      </p:pic>
      <p:pic>
        <p:nvPicPr>
          <p:cNvPr id="10" name="Picture 9" descr="satisfaction_attri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069080"/>
            <a:ext cx="5394960" cy="2240280"/>
          </a:xfrm>
          <a:prstGeom prst="rect">
            <a:avLst/>
          </a:prstGeom>
        </p:spPr>
      </p:pic>
      <p:pic>
        <p:nvPicPr>
          <p:cNvPr id="11" name="Picture 10" descr="age_distribu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4069080"/>
            <a:ext cx="5394960" cy="2240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63F"/>
                </a:solidFill>
              </a:defRPr>
            </a:pPr>
            <a:r>
              <a:t>What the EDA Revealed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Patterns that matter for HR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t>HR Analytics – Final Data Analytics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35204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73152" cy="2011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463039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63F"/>
                </a:solidFill>
              </a:defRPr>
            </a:pPr>
            <a:r>
              <a:t>Attrition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1837943"/>
            <a:ext cx="3108960" cy="1417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  <a:defRPr sz="1120">
                <a:solidFill>
                  <a:srgbClr val="1F2937"/>
                </a:solidFill>
              </a:defRPr>
            </a:pPr>
            <a:r>
              <a:t>• Overall attrition is approximately 16.1%.</a:t>
            </a:r>
          </a:p>
          <a:p>
            <a:pPr>
              <a:spcAft>
                <a:spcPts val="600"/>
              </a:spcAft>
              <a:defRPr sz="1120">
                <a:solidFill>
                  <a:srgbClr val="1F2937"/>
                </a:solidFill>
              </a:defRPr>
            </a:pPr>
            <a:r>
              <a:t>• Retention remains a meaningful HR priority.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325880"/>
            <a:ext cx="35204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325880"/>
            <a:ext cx="73152" cy="2011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463039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63F"/>
                </a:solidFill>
              </a:defRPr>
            </a:pPr>
            <a:r>
              <a:t>Overtime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1837943"/>
            <a:ext cx="3108960" cy="1417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  <a:defRPr sz="1120">
                <a:solidFill>
                  <a:srgbClr val="1F2937"/>
                </a:solidFill>
              </a:defRPr>
            </a:pPr>
            <a:r>
              <a:t>• Attrition is ~30.6% for overtime employees versus ~10.4% for non-overtime employees.</a:t>
            </a:r>
          </a:p>
          <a:p>
            <a:pPr>
              <a:spcAft>
                <a:spcPts val="600"/>
              </a:spcAft>
              <a:defRPr sz="1120">
                <a:solidFill>
                  <a:srgbClr val="1F2937"/>
                </a:solidFill>
              </a:defRPr>
            </a:pPr>
            <a:r>
              <a:t>• Workload is a major signal to investigate.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325880"/>
            <a:ext cx="35204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325880"/>
            <a:ext cx="73152" cy="2011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463039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63F"/>
                </a:solidFill>
              </a:defRPr>
            </a:pPr>
            <a:r>
              <a:t>Job Satisfaction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1837943"/>
            <a:ext cx="3108960" cy="1417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  <a:defRPr sz="1120">
                <a:solidFill>
                  <a:srgbClr val="1F2937"/>
                </a:solidFill>
              </a:defRPr>
            </a:pPr>
            <a:r>
              <a:t>• Lowest satisfaction group shows ~22.9% attrition versus ~11.3% at the highest level.</a:t>
            </a:r>
          </a:p>
          <a:p>
            <a:pPr>
              <a:spcAft>
                <a:spcPts val="600"/>
              </a:spcAft>
              <a:defRPr sz="1120">
                <a:solidFill>
                  <a:srgbClr val="1F2937"/>
                </a:solidFill>
              </a:defRPr>
            </a:pPr>
            <a:r>
              <a:t>• Employee experience matters.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611880"/>
            <a:ext cx="53949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611880"/>
            <a:ext cx="73152" cy="2240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374904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63F"/>
                </a:solidFill>
              </a:defRPr>
            </a:pPr>
            <a:r>
              <a:t>Department &amp; Workforce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4123944"/>
            <a:ext cx="4983480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  <a:defRPr sz="1120">
                <a:solidFill>
                  <a:srgbClr val="1F2937"/>
                </a:solidFill>
              </a:defRPr>
            </a:pPr>
            <a:r>
              <a:t>• Sales has the highest attrition rate among the three departments in the dataset (~20.7%).</a:t>
            </a:r>
          </a:p>
          <a:p>
            <a:pPr>
              <a:spcAft>
                <a:spcPts val="600"/>
              </a:spcAft>
              <a:defRPr sz="1120">
                <a:solidFill>
                  <a:srgbClr val="1F2937"/>
                </a:solidFill>
              </a:defRPr>
            </a:pPr>
            <a:r>
              <a:t>• R&amp;D is the largest department by employee count.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611880"/>
            <a:ext cx="534924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611880"/>
            <a:ext cx="73152" cy="2240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3749040"/>
            <a:ext cx="49834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63F"/>
                </a:solidFill>
              </a:defRPr>
            </a:pPr>
            <a:r>
              <a:t>Compensation &amp; Experience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4123944"/>
            <a:ext cx="4937759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  <a:defRPr sz="1120">
                <a:solidFill>
                  <a:srgbClr val="1F2937"/>
                </a:solidFill>
              </a:defRPr>
            </a:pPr>
            <a:r>
              <a:t>• Average monthly income is around 6.5K and average tenure is about 7 years.</a:t>
            </a:r>
          </a:p>
          <a:p>
            <a:pPr>
              <a:spcAft>
                <a:spcPts val="600"/>
              </a:spcAft>
              <a:defRPr sz="1120">
                <a:solidFill>
                  <a:srgbClr val="1F2937"/>
                </a:solidFill>
              </a:defRPr>
            </a:pPr>
            <a:r>
              <a:t>• Income varies meaningfully by job role and rises with job level/experience.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63F"/>
                </a:solidFill>
              </a:defRPr>
            </a:pPr>
            <a:r>
              <a:t>Power BI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Interactive workforce, attrition and performance monitoring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t>HR Analytics – Final Data Analytics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7</a:t>
            </a:r>
          </a:p>
        </p:txBody>
      </p:sp>
      <p:pic>
        <p:nvPicPr>
          <p:cNvPr id="8" name="Picture 7" descr="086a4125-5778-44c9-a999-caa2c128c6f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8229600" cy="52120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915400" y="1234440"/>
            <a:ext cx="26060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15400" y="1234440"/>
            <a:ext cx="73152" cy="4846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16568" y="1371600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63F"/>
                </a:solidFill>
              </a:defRPr>
            </a:pPr>
            <a:r>
              <a:t>Dashboard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34856" y="1746504"/>
            <a:ext cx="2194560" cy="425195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  <a:defRPr sz="1120">
                <a:solidFill>
                  <a:srgbClr val="1F2937"/>
                </a:solidFill>
              </a:defRPr>
            </a:pPr>
            <a:r>
              <a:t>• 6 KPI cards</a:t>
            </a:r>
          </a:p>
          <a:p>
            <a:pPr>
              <a:spcAft>
                <a:spcPts val="600"/>
              </a:spcAft>
              <a:defRPr sz="1120">
                <a:solidFill>
                  <a:srgbClr val="1F2937"/>
                </a:solidFill>
              </a:defRPr>
            </a:pPr>
            <a:r>
              <a:t>• Attrition analysis</a:t>
            </a:r>
          </a:p>
          <a:p>
            <a:pPr>
              <a:spcAft>
                <a:spcPts val="600"/>
              </a:spcAft>
              <a:defRPr sz="1120">
                <a:solidFill>
                  <a:srgbClr val="1F2937"/>
                </a:solidFill>
              </a:defRPr>
            </a:pPr>
            <a:r>
              <a:t>• Department performance</a:t>
            </a:r>
          </a:p>
          <a:p>
            <a:pPr>
              <a:spcAft>
                <a:spcPts val="600"/>
              </a:spcAft>
              <a:defRPr sz="1120">
                <a:solidFill>
                  <a:srgbClr val="1F2937"/>
                </a:solidFill>
              </a:defRPr>
            </a:pPr>
            <a:r>
              <a:t>• Income by job role</a:t>
            </a:r>
          </a:p>
          <a:p>
            <a:pPr>
              <a:spcAft>
                <a:spcPts val="600"/>
              </a:spcAft>
              <a:defRPr sz="1120">
                <a:solidFill>
                  <a:srgbClr val="1F2937"/>
                </a:solidFill>
              </a:defRPr>
            </a:pPr>
            <a:r>
              <a:t>• Gender diversity</a:t>
            </a:r>
          </a:p>
          <a:p>
            <a:pPr>
              <a:spcAft>
                <a:spcPts val="600"/>
              </a:spcAft>
              <a:defRPr sz="1120">
                <a:solidFill>
                  <a:srgbClr val="1F2937"/>
                </a:solidFill>
              </a:defRPr>
            </a:pPr>
            <a:r>
              <a:t>• Age-group distribution</a:t>
            </a:r>
          </a:p>
          <a:p>
            <a:pPr>
              <a:spcAft>
                <a:spcPts val="600"/>
              </a:spcAft>
              <a:defRPr sz="1120">
                <a:solidFill>
                  <a:srgbClr val="1F2937"/>
                </a:solidFill>
              </a:defRPr>
            </a:pPr>
            <a:r>
              <a:t>• Job satisfaction heatmap</a:t>
            </a:r>
          </a:p>
          <a:p>
            <a:pPr>
              <a:spcAft>
                <a:spcPts val="600"/>
              </a:spcAft>
              <a:defRPr sz="1120">
                <a:solidFill>
                  <a:srgbClr val="1F2937"/>
                </a:solidFill>
              </a:defRPr>
            </a:pPr>
            <a:r>
              <a:t>• Slicers: Department, EmpID, JobRole, Gender, SalarySlab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63F"/>
                </a:solidFill>
              </a:defRPr>
            </a:pPr>
            <a:r>
              <a:t>Business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Turning the analysis into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t>HR Analytics – Final Data Analytics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53949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73152" cy="2103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463039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63F"/>
                </a:solidFill>
              </a:defRPr>
            </a:pPr>
            <a:r>
              <a:t>1. Targeted Retention Program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1837943"/>
            <a:ext cx="4983480" cy="1508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  <a:defRPr sz="1120">
                <a:solidFill>
                  <a:srgbClr val="1F2937"/>
                </a:solidFill>
              </a:defRPr>
            </a:pPr>
            <a:r>
              <a:t>• Prioritize employees and departments showing higher attrition signals, especially overtime and lower satisfaction groups.</a:t>
            </a:r>
          </a:p>
          <a:p>
            <a:pPr>
              <a:spcAft>
                <a:spcPts val="600"/>
              </a:spcAft>
              <a:defRPr sz="1120">
                <a:solidFill>
                  <a:srgbClr val="1F2937"/>
                </a:solidFill>
              </a:defRPr>
            </a:pPr>
            <a:r>
              <a:t>• Use regular engagement checks and manager-level retention conversations.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325880"/>
            <a:ext cx="53949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325880"/>
            <a:ext cx="73152" cy="2103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463039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63F"/>
                </a:solidFill>
              </a:defRPr>
            </a:pPr>
            <a:r>
              <a:t>2. Review Excessive Overtime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656" y="1837943"/>
            <a:ext cx="4983480" cy="1508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  <a:defRPr sz="1120">
                <a:solidFill>
                  <a:srgbClr val="1F2937"/>
                </a:solidFill>
              </a:defRPr>
            </a:pPr>
            <a:r>
              <a:t>• Monitor overtime by department and role, then investigate teams with consistently high workloads.</a:t>
            </a:r>
          </a:p>
          <a:p>
            <a:pPr>
              <a:spcAft>
                <a:spcPts val="600"/>
              </a:spcAft>
              <a:defRPr sz="1120">
                <a:solidFill>
                  <a:srgbClr val="1F2937"/>
                </a:solidFill>
              </a:defRPr>
            </a:pPr>
            <a:r>
              <a:t>• Use workforce planning and workload redistribution where required.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57600"/>
            <a:ext cx="53949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657600"/>
            <a:ext cx="73152" cy="2103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7947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63F"/>
                </a:solidFill>
              </a:defRPr>
            </a:pPr>
            <a:r>
              <a:t>3. Focus on Sales Retention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4169664"/>
            <a:ext cx="4983480" cy="1508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  <a:defRPr sz="1120">
                <a:solidFill>
                  <a:srgbClr val="1F2937"/>
                </a:solidFill>
              </a:defRPr>
            </a:pPr>
            <a:r>
              <a:t>• Deep-dive Sales employees by job role, overtime, satisfaction, salary and tenure.</a:t>
            </a:r>
          </a:p>
          <a:p>
            <a:pPr>
              <a:spcAft>
                <a:spcPts val="600"/>
              </a:spcAft>
              <a:defRPr sz="1120">
                <a:solidFill>
                  <a:srgbClr val="1F2937"/>
                </a:solidFill>
              </a:defRPr>
            </a:pPr>
            <a:r>
              <a:t>• Use the dashboard to identify specific retention hotspots.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657600"/>
            <a:ext cx="53949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657600"/>
            <a:ext cx="73152" cy="2103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37947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63F"/>
                </a:solidFill>
              </a:defRPr>
            </a:pPr>
            <a:r>
              <a:t>4. Use Power BI for Continuous Monitoring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656" y="4169664"/>
            <a:ext cx="4983480" cy="1508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  <a:defRPr sz="1120">
                <a:solidFill>
                  <a:srgbClr val="1F2937"/>
                </a:solidFill>
              </a:defRPr>
            </a:pPr>
            <a:r>
              <a:t>• Track attrition, satisfaction, overtime, performance and workforce mix regularly.</a:t>
            </a:r>
          </a:p>
          <a:p>
            <a:pPr>
              <a:spcAft>
                <a:spcPts val="600"/>
              </a:spcAft>
              <a:defRPr sz="1120">
                <a:solidFill>
                  <a:srgbClr val="1F2937"/>
                </a:solidFill>
              </a:defRPr>
            </a:pPr>
            <a:r>
              <a:t>• Move from one-time reporting to data-driven HR monitoring.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63F"/>
                </a:solidFill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630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The project demonstrates a complete Data Analytics workflow — from raw HR data to business recommendations.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521208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743200"/>
            <a:ext cx="73152" cy="2514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88036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63F"/>
                </a:solidFill>
              </a:defRPr>
            </a:pPr>
            <a:r>
              <a:t>Key 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3255264"/>
            <a:ext cx="4800600" cy="1920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  <a:defRPr sz="1120">
                <a:solidFill>
                  <a:srgbClr val="1F2937"/>
                </a:solidFill>
              </a:defRPr>
            </a:pPr>
            <a:r>
              <a:t>• Attrition is most actionable when viewed alongside overtime, job satisfaction and department context.</a:t>
            </a:r>
          </a:p>
          <a:p>
            <a:pPr>
              <a:spcAft>
                <a:spcPts val="600"/>
              </a:spcAft>
              <a:defRPr sz="1120">
                <a:solidFill>
                  <a:srgbClr val="1F2937"/>
                </a:solidFill>
              </a:defRPr>
            </a:pPr>
            <a:r>
              <a:t>• The Power BI dashboard makes these relationships easier to monitor and communicate.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743200"/>
            <a:ext cx="521208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2743200"/>
            <a:ext cx="73152" cy="2514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288036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63F"/>
                </a:solidFill>
              </a:defRPr>
            </a:pPr>
            <a:r>
              <a:t>Project Deliverables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1656" y="3255264"/>
            <a:ext cx="4800600" cy="1920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  <a:defRPr sz="1120">
                <a:solidFill>
                  <a:srgbClr val="1F2937"/>
                </a:solidFill>
              </a:defRPr>
            </a:pPr>
            <a:r>
              <a:t>• Cleaned analysis workflow and EDA notebook</a:t>
            </a:r>
          </a:p>
          <a:p>
            <a:pPr>
              <a:spcAft>
                <a:spcPts val="600"/>
              </a:spcAft>
              <a:defRPr sz="1120">
                <a:solidFill>
                  <a:srgbClr val="1F2937"/>
                </a:solidFill>
              </a:defRPr>
            </a:pPr>
            <a:r>
              <a:t>• Python visualizations</a:t>
            </a:r>
          </a:p>
          <a:p>
            <a:pPr>
              <a:spcAft>
                <a:spcPts val="600"/>
              </a:spcAft>
              <a:defRPr sz="1120">
                <a:solidFill>
                  <a:srgbClr val="1F2937"/>
                </a:solidFill>
              </a:defRPr>
            </a:pPr>
            <a:r>
              <a:t>• Interactive Power BI dashboard</a:t>
            </a:r>
          </a:p>
          <a:p>
            <a:pPr>
              <a:spcAft>
                <a:spcPts val="600"/>
              </a:spcAft>
              <a:defRPr sz="1120">
                <a:solidFill>
                  <a:srgbClr val="1F2937"/>
                </a:solidFill>
              </a:defRPr>
            </a:pPr>
            <a:r>
              <a:t>• GitHub documentation and version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563EB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